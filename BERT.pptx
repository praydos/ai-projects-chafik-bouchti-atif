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805" autoAdjust="0"/>
  </p:normalViewPr>
  <p:slideViewPr>
    <p:cSldViewPr snapToGrid="0">
      <p:cViewPr varScale="1">
        <p:scale>
          <a:sx n="63" d="100"/>
          <a:sy n="63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70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126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485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1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62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06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9547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287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451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82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98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E1E308-C7A1-4501-9A7F-AAC380AD4FAF}" type="datetimeFigureOut">
              <a:rPr lang="fr-FR" smtClean="0"/>
              <a:t>23/12/2025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5815790-D231-4795-959E-35FEECABB13F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457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E1B5AE14-C4B6-B15A-6F86-70B31043D1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670464"/>
            <a:ext cx="4017182" cy="5660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10409E-7716-8770-914D-344DE47BA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670464"/>
            <a:ext cx="10058400" cy="3149371"/>
          </a:xfrm>
        </p:spPr>
        <p:txBody>
          <a:bodyPr>
            <a:noAutofit/>
          </a:bodyPr>
          <a:lstStyle/>
          <a:p>
            <a:r>
              <a:rPr lang="en-US" sz="5400" dirty="0"/>
              <a:t>Fine-Tuning BERT on the AG News Dataset and Deploying a Real-Time Text Classification System</a:t>
            </a:r>
            <a:endParaRPr lang="fr-FR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CC255E-8DCF-BFA7-39C1-A49ACC59E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860" y="4478333"/>
            <a:ext cx="3657599" cy="1709203"/>
          </a:xfrm>
        </p:spPr>
        <p:txBody>
          <a:bodyPr>
            <a:normAutofit/>
          </a:bodyPr>
          <a:lstStyle/>
          <a:p>
            <a:r>
              <a:rPr lang="fr-FR" dirty="0" err="1"/>
              <a:t>presented</a:t>
            </a:r>
            <a:r>
              <a:rPr lang="fr-FR" dirty="0"/>
              <a:t> by:</a:t>
            </a:r>
          </a:p>
          <a:p>
            <a:pPr lvl="1" algn="l"/>
            <a:r>
              <a:rPr lang="fr-FR" dirty="0"/>
              <a:t>YOUNESS ATIF</a:t>
            </a:r>
          </a:p>
          <a:p>
            <a:pPr lvl="1" algn="l"/>
            <a:r>
              <a:rPr lang="fr-FR" dirty="0"/>
              <a:t>ABDELKEBIR BOUCHTI</a:t>
            </a:r>
          </a:p>
          <a:p>
            <a:pPr lvl="1" algn="l"/>
            <a:r>
              <a:rPr lang="fr-FR" dirty="0"/>
              <a:t>ANAS CHAFIK</a:t>
            </a:r>
          </a:p>
          <a:p>
            <a:endParaRPr lang="fr-FR" dirty="0"/>
          </a:p>
        </p:txBody>
      </p:sp>
      <p:pic>
        <p:nvPicPr>
          <p:cNvPr id="6" name="Picture 5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344D2B87-8C3C-5D29-B6C0-F6C975E73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18" y="-450619"/>
            <a:ext cx="2553568" cy="2553568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6C8A75B-2085-47A0-5E53-3F794F0DF85B}"/>
              </a:ext>
            </a:extLst>
          </p:cNvPr>
          <p:cNvSpPr txBox="1">
            <a:spLocks/>
          </p:cNvSpPr>
          <p:nvPr/>
        </p:nvSpPr>
        <p:spPr>
          <a:xfrm>
            <a:off x="3652739" y="4478333"/>
            <a:ext cx="3845341" cy="895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 err="1"/>
              <a:t>Framed</a:t>
            </a:r>
            <a:r>
              <a:rPr lang="fr-FR" sz="2000" dirty="0"/>
              <a:t> by:</a:t>
            </a:r>
          </a:p>
          <a:p>
            <a:r>
              <a:rPr lang="fr-FR" sz="2000" b="1" dirty="0">
                <a:solidFill>
                  <a:schemeClr val="tx1"/>
                </a:solidFill>
              </a:rPr>
              <a:t>	</a:t>
            </a:r>
            <a:r>
              <a:rPr lang="fr-FR" sz="2000" b="1" dirty="0" err="1">
                <a:solidFill>
                  <a:schemeClr val="tx1"/>
                </a:solidFill>
              </a:rPr>
              <a:t>soufiane</a:t>
            </a:r>
            <a:r>
              <a:rPr lang="fr-FR" sz="2000" b="1" dirty="0">
                <a:solidFill>
                  <a:schemeClr val="tx1"/>
                </a:solidFill>
              </a:rPr>
              <a:t> </a:t>
            </a:r>
            <a:r>
              <a:rPr lang="fr-FR" sz="2000" b="1" dirty="0" err="1">
                <a:solidFill>
                  <a:schemeClr val="tx1"/>
                </a:solidFill>
              </a:rPr>
              <a:t>hamida</a:t>
            </a:r>
            <a:endParaRPr lang="fr-FR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09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C8AC-19BD-13F2-154B-7FB5DF91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Global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9E57-BB08-69D9-A2C6-F861B6AA9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Introduction &amp; </a:t>
            </a:r>
            <a:r>
              <a:rPr lang="fr-FR" dirty="0" err="1"/>
              <a:t>Context</a:t>
            </a:r>
            <a:r>
              <a:rPr lang="fr-FR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 err="1"/>
              <a:t>Problem</a:t>
            </a:r>
            <a:r>
              <a:rPr lang="fr-FR" dirty="0"/>
              <a:t> </a:t>
            </a:r>
            <a:r>
              <a:rPr lang="fr-FR" dirty="0" err="1"/>
              <a:t>Statement</a:t>
            </a:r>
            <a:r>
              <a:rPr lang="fr-FR" dirty="0"/>
              <a:t> &amp; Motivation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Project Objectives &amp; Contributions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BERT Architecture &amp; NLP Background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Training Process &amp; </a:t>
            </a:r>
            <a:r>
              <a:rPr lang="fr-FR" dirty="0" err="1"/>
              <a:t>Dataset</a:t>
            </a:r>
            <a:endParaRPr lang="fr-FR" dirty="0"/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Model Performance &amp; Evaluation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System Architecture &amp; </a:t>
            </a:r>
            <a:r>
              <a:rPr lang="fr-FR" dirty="0" err="1"/>
              <a:t>Implementation</a:t>
            </a:r>
            <a:endParaRPr lang="fr-FR" dirty="0"/>
          </a:p>
          <a:p>
            <a:pPr marL="457200" indent="-457200">
              <a:buFont typeface="+mj-lt"/>
              <a:buAutoNum type="arabicPeriod"/>
            </a:pPr>
            <a:r>
              <a:rPr lang="fr-FR" dirty="0" err="1"/>
              <a:t>Deployment</a:t>
            </a:r>
            <a:r>
              <a:rPr lang="fr-FR" dirty="0"/>
              <a:t> &amp; </a:t>
            </a:r>
            <a:r>
              <a:rPr lang="fr-FR" dirty="0" err="1"/>
              <a:t>Demo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38814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5C12-1E61-2077-8BFE-938CC318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Problem</a:t>
            </a:r>
            <a:r>
              <a:rPr lang="fr-FR" dirty="0"/>
              <a:t> </a:t>
            </a:r>
            <a:r>
              <a:rPr lang="fr-FR" dirty="0" err="1"/>
              <a:t>Statement</a:t>
            </a:r>
            <a:r>
              <a:rPr lang="fr-FR" dirty="0"/>
              <a:t> &amp; 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A0D6-0666-CAAE-FBFA-81045284B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357" y="1846052"/>
            <a:ext cx="4064655" cy="736282"/>
          </a:xfrm>
        </p:spPr>
        <p:txBody>
          <a:bodyPr/>
          <a:lstStyle/>
          <a:p>
            <a:r>
              <a:rPr lang="fr-FR" b="1" dirty="0" err="1"/>
              <a:t>Why</a:t>
            </a:r>
            <a:r>
              <a:rPr lang="fr-FR" b="1" dirty="0"/>
              <a:t> </a:t>
            </a:r>
            <a:r>
              <a:rPr lang="fr-FR" b="1" dirty="0" err="1"/>
              <a:t>Text</a:t>
            </a:r>
            <a:r>
              <a:rPr lang="fr-FR" b="1" dirty="0"/>
              <a:t> Classification?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0D9E9-3EF4-2D36-11FF-F8706ABDA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357" y="2582334"/>
            <a:ext cx="4064655" cy="3378200"/>
          </a:xfrm>
        </p:spPr>
        <p:txBody>
          <a:bodyPr/>
          <a:lstStyle/>
          <a:p>
            <a:r>
              <a:rPr lang="en-US" dirty="0"/>
              <a:t>Text classification is a core task in Natural Language Processing with applications such as: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News categorization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Sentiment analysis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Spam detection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Content moderation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Recommendation systems</a:t>
            </a:r>
          </a:p>
          <a:p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4DEB4-FAEC-0D59-49BF-A0F77B02B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43948" y="1847418"/>
            <a:ext cx="4937760" cy="736282"/>
          </a:xfrm>
        </p:spPr>
        <p:txBody>
          <a:bodyPr/>
          <a:lstStyle/>
          <a:p>
            <a:r>
              <a:rPr lang="fr-FR" b="1" dirty="0"/>
              <a:t>Challenges </a:t>
            </a:r>
            <a:r>
              <a:rPr lang="fr-FR" b="1" dirty="0" err="1"/>
              <a:t>with</a:t>
            </a:r>
            <a:r>
              <a:rPr lang="fr-FR" b="1" dirty="0"/>
              <a:t> </a:t>
            </a:r>
            <a:r>
              <a:rPr lang="fr-FR" b="1" dirty="0" err="1"/>
              <a:t>Traditional</a:t>
            </a:r>
            <a:r>
              <a:rPr lang="fr-FR" b="1" dirty="0"/>
              <a:t> Methods</a:t>
            </a:r>
            <a:endParaRPr lang="fr-F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2C731C-B564-B925-B1F2-C0918F735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43948" y="2582334"/>
            <a:ext cx="6695768" cy="14507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Bag-of-Words and TF-IDF ignore context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Classical ML models struggle with ambiguity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Same word can have different meanings depending on context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B54BAC9-798F-55F3-DDD6-8F1FD7D87AA6}"/>
              </a:ext>
            </a:extLst>
          </p:cNvPr>
          <p:cNvSpPr txBox="1">
            <a:spLocks/>
          </p:cNvSpPr>
          <p:nvPr/>
        </p:nvSpPr>
        <p:spPr>
          <a:xfrm>
            <a:off x="5034118" y="3902350"/>
            <a:ext cx="4937760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 err="1"/>
              <a:t>Why</a:t>
            </a:r>
            <a:r>
              <a:rPr lang="fr-FR" b="1" dirty="0"/>
              <a:t> BERT?</a:t>
            </a:r>
            <a:endParaRPr lang="fr-FR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EE19CA3-A14E-D7FB-0E7E-502E963F0AD4}"/>
              </a:ext>
            </a:extLst>
          </p:cNvPr>
          <p:cNvSpPr txBox="1">
            <a:spLocks/>
          </p:cNvSpPr>
          <p:nvPr/>
        </p:nvSpPr>
        <p:spPr>
          <a:xfrm>
            <a:off x="5034118" y="4637266"/>
            <a:ext cx="6695768" cy="14507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Understands context in both directions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Pre-trained on massive corpora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Achieves state-of-the-art performance on NLP tasks</a:t>
            </a:r>
          </a:p>
        </p:txBody>
      </p:sp>
    </p:spTree>
    <p:extLst>
      <p:ext uri="{BB962C8B-B14F-4D97-AF65-F5344CB8AC3E}">
        <p14:creationId xmlns:p14="http://schemas.microsoft.com/office/powerpoint/2010/main" val="3038269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0C00-11A1-F6CD-77E2-6327D93D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Project Objectives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45252-14F3-615D-8449-F0A8D1DFB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333" y="2052208"/>
            <a:ext cx="5863954" cy="4023360"/>
          </a:xfrm>
        </p:spPr>
        <p:txBody>
          <a:bodyPr>
            <a:normAutofit/>
          </a:bodyPr>
          <a:lstStyle/>
          <a:p>
            <a:r>
              <a:rPr lang="en-US" b="1" dirty="0"/>
              <a:t>Main Objectives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Build a high-accuracy text classification model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Fine-tune a pre-trained BERT model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Deploy the model in a web application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Make the system reproducible and scalable using Docker</a:t>
            </a:r>
          </a:p>
          <a:p>
            <a:r>
              <a:rPr lang="en-US" b="1" dirty="0"/>
              <a:t>Project Scope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Classification of news text into 4 categories:</a:t>
            </a:r>
          </a:p>
          <a:p>
            <a:pPr marL="932688" lvl="2" indent="-457200">
              <a:buFont typeface="+mj-lt"/>
              <a:buAutoNum type="arabicPeriod"/>
            </a:pPr>
            <a:r>
              <a:rPr lang="en-US" dirty="0"/>
              <a:t>World</a:t>
            </a:r>
          </a:p>
          <a:p>
            <a:pPr marL="932688" lvl="2" indent="-457200">
              <a:buFont typeface="+mj-lt"/>
              <a:buAutoNum type="arabicPeriod"/>
            </a:pPr>
            <a:r>
              <a:rPr lang="en-US" dirty="0"/>
              <a:t>Sports</a:t>
            </a:r>
          </a:p>
          <a:p>
            <a:pPr marL="932688" lvl="2" indent="-457200">
              <a:buFont typeface="+mj-lt"/>
              <a:buAutoNum type="arabicPeriod"/>
            </a:pPr>
            <a:r>
              <a:rPr lang="en-US" dirty="0"/>
              <a:t>Business</a:t>
            </a:r>
          </a:p>
          <a:p>
            <a:pPr marL="932688" lvl="2" indent="-457200">
              <a:buFont typeface="+mj-lt"/>
              <a:buAutoNum type="arabicPeriod"/>
            </a:pPr>
            <a:r>
              <a:rPr lang="en-US" dirty="0"/>
              <a:t>Science &amp; Technology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Real-time inference through a web interface</a:t>
            </a:r>
          </a:p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427E7-2E39-6983-EFCF-8297C046EEB7}"/>
              </a:ext>
            </a:extLst>
          </p:cNvPr>
          <p:cNvSpPr/>
          <p:nvPr/>
        </p:nvSpPr>
        <p:spPr>
          <a:xfrm>
            <a:off x="7772400" y="2052208"/>
            <a:ext cx="2831690" cy="6025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</a:rPr>
              <a:t>TEXT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91331E-B55C-6641-688D-631BFABCCC30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9188245" y="2654710"/>
            <a:ext cx="0" cy="794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E7CBA3B-3960-8B6D-752B-EA9753AC6676}"/>
              </a:ext>
            </a:extLst>
          </p:cNvPr>
          <p:cNvSpPr/>
          <p:nvPr/>
        </p:nvSpPr>
        <p:spPr>
          <a:xfrm>
            <a:off x="8273845" y="3448941"/>
            <a:ext cx="1828799" cy="7742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BERT </a:t>
            </a:r>
            <a:r>
              <a:rPr lang="fr-FR" dirty="0"/>
              <a:t>Model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4C20E7-6AD9-3C74-29DB-FBB3E0D14C18}"/>
              </a:ext>
            </a:extLst>
          </p:cNvPr>
          <p:cNvCxnSpPr>
            <a:cxnSpLocks/>
            <a:stCxn id="9" idx="4"/>
            <a:endCxn id="22" idx="3"/>
          </p:cNvCxnSpPr>
          <p:nvPr/>
        </p:nvCxnSpPr>
        <p:spPr>
          <a:xfrm flipH="1">
            <a:off x="7466788" y="4223231"/>
            <a:ext cx="1721457" cy="650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A80C68-36AA-7BCA-A38F-21657A92B7B8}"/>
              </a:ext>
            </a:extLst>
          </p:cNvPr>
          <p:cNvCxnSpPr>
            <a:cxnSpLocks/>
            <a:stCxn id="9" idx="4"/>
            <a:endCxn id="23" idx="0"/>
          </p:cNvCxnSpPr>
          <p:nvPr/>
        </p:nvCxnSpPr>
        <p:spPr>
          <a:xfrm flipH="1">
            <a:off x="8124973" y="4223231"/>
            <a:ext cx="1063272" cy="1191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A2DDC8-EC2C-A1FB-3157-FB303B309F62}"/>
              </a:ext>
            </a:extLst>
          </p:cNvPr>
          <p:cNvCxnSpPr>
            <a:cxnSpLocks/>
            <a:stCxn id="9" idx="4"/>
            <a:endCxn id="24" idx="1"/>
          </p:cNvCxnSpPr>
          <p:nvPr/>
        </p:nvCxnSpPr>
        <p:spPr>
          <a:xfrm>
            <a:off x="9188245" y="4223231"/>
            <a:ext cx="1420120" cy="59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F6471DA-B3AE-6A0F-1C46-524A21BEFE91}"/>
              </a:ext>
            </a:extLst>
          </p:cNvPr>
          <p:cNvSpPr/>
          <p:nvPr/>
        </p:nvSpPr>
        <p:spPr>
          <a:xfrm>
            <a:off x="6289189" y="4543708"/>
            <a:ext cx="1177599" cy="660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World</a:t>
            </a:r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89D56C-19AA-693F-099B-117A4B484D19}"/>
              </a:ext>
            </a:extLst>
          </p:cNvPr>
          <p:cNvSpPr/>
          <p:nvPr/>
        </p:nvSpPr>
        <p:spPr>
          <a:xfrm>
            <a:off x="7465571" y="5414670"/>
            <a:ext cx="1318804" cy="660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Sports</a:t>
            </a:r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E93E1-E87E-7FD5-6300-1BF8A3FEC69A}"/>
              </a:ext>
            </a:extLst>
          </p:cNvPr>
          <p:cNvSpPr/>
          <p:nvPr/>
        </p:nvSpPr>
        <p:spPr>
          <a:xfrm>
            <a:off x="10608365" y="4365138"/>
            <a:ext cx="1288211" cy="9076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Science &amp; Technology</a:t>
            </a:r>
          </a:p>
          <a:p>
            <a:pPr algn="ctr"/>
            <a:endParaRPr lang="fr-F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1180C-5235-81EB-C077-6788CE39CF1B}"/>
              </a:ext>
            </a:extLst>
          </p:cNvPr>
          <p:cNvSpPr/>
          <p:nvPr/>
        </p:nvSpPr>
        <p:spPr>
          <a:xfrm>
            <a:off x="9285286" y="5419493"/>
            <a:ext cx="1318804" cy="660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</a:t>
            </a:r>
            <a:endParaRPr lang="fr-FR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F5A56E-D39F-EE36-320B-DFC4D99B6F22}"/>
              </a:ext>
            </a:extLst>
          </p:cNvPr>
          <p:cNvCxnSpPr>
            <a:stCxn id="9" idx="4"/>
            <a:endCxn id="29" idx="0"/>
          </p:cNvCxnSpPr>
          <p:nvPr/>
        </p:nvCxnSpPr>
        <p:spPr>
          <a:xfrm>
            <a:off x="9188245" y="4223231"/>
            <a:ext cx="756443" cy="1196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341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B158-1C57-07B1-7BAD-CC2F4214A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368" y="1932039"/>
            <a:ext cx="10113264" cy="2174649"/>
          </a:xfrm>
        </p:spPr>
        <p:txBody>
          <a:bodyPr/>
          <a:lstStyle/>
          <a:p>
            <a:pPr algn="ctr"/>
            <a:r>
              <a:rPr lang="fr-FR" sz="7200" dirty="0">
                <a:solidFill>
                  <a:schemeClr val="tx1"/>
                </a:solidFill>
              </a:rPr>
              <a:t>Model Architecture &amp; Training</a:t>
            </a:r>
          </a:p>
        </p:txBody>
      </p:sp>
    </p:spTree>
    <p:extLst>
      <p:ext uri="{BB962C8B-B14F-4D97-AF65-F5344CB8AC3E}">
        <p14:creationId xmlns:p14="http://schemas.microsoft.com/office/powerpoint/2010/main" val="411845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9235-E4FA-A5A8-E3F9-D61B8E69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dirty="0"/>
              <a:t>BERT &amp;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50F6E-7AA4-CBF2-CB54-C75AF5E75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609" y="1957462"/>
            <a:ext cx="2840539" cy="1249743"/>
          </a:xfrm>
        </p:spPr>
        <p:txBody>
          <a:bodyPr>
            <a:normAutofit/>
          </a:bodyPr>
          <a:lstStyle/>
          <a:p>
            <a:r>
              <a:rPr lang="fr-FR" b="1" dirty="0"/>
              <a:t>BERT (</a:t>
            </a:r>
            <a:r>
              <a:rPr lang="fr-FR" b="1" dirty="0" err="1"/>
              <a:t>Bidirectional</a:t>
            </a:r>
            <a:r>
              <a:rPr lang="fr-FR" b="1" dirty="0"/>
              <a:t> Encoder </a:t>
            </a:r>
            <a:r>
              <a:rPr lang="fr-FR" b="1" dirty="0" err="1"/>
              <a:t>Representations</a:t>
            </a:r>
            <a:r>
              <a:rPr lang="fr-FR" b="1" dirty="0"/>
              <a:t> </a:t>
            </a:r>
            <a:r>
              <a:rPr lang="fr-FR" b="1" dirty="0" err="1"/>
              <a:t>from</a:t>
            </a:r>
            <a:r>
              <a:rPr lang="fr-FR" b="1" dirty="0"/>
              <a:t> Transformers)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38F67-80D0-6E94-775B-744361358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4609" y="3298123"/>
            <a:ext cx="2840539" cy="296994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Transformer-based language model introduced by Google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Pre-trained on very large text corpora: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Wikipedia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BooksCorpus</a:t>
            </a:r>
            <a:endParaRPr 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Uses self-attention to understand relationships between words</a:t>
            </a:r>
          </a:p>
          <a:p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79E7C-7895-A095-FA9D-B587A1679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40193" y="1846052"/>
            <a:ext cx="3943717" cy="736282"/>
          </a:xfrm>
        </p:spPr>
        <p:txBody>
          <a:bodyPr>
            <a:normAutofit/>
          </a:bodyPr>
          <a:lstStyle/>
          <a:p>
            <a:r>
              <a:rPr lang="fr-FR" b="1" dirty="0"/>
              <a:t>BERT Architecture (High-</a:t>
            </a:r>
            <a:r>
              <a:rPr lang="fr-FR" b="1" dirty="0" err="1"/>
              <a:t>Level</a:t>
            </a:r>
            <a:r>
              <a:rPr lang="fr-FR" b="1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4E3BE0-3B59-1547-18DF-349315873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11593" y="2582334"/>
            <a:ext cx="4788308" cy="3378200"/>
          </a:xfrm>
        </p:spPr>
        <p:txBody>
          <a:bodyPr>
            <a:normAutofit lnSpcReduction="10000"/>
          </a:bodyPr>
          <a:lstStyle/>
          <a:p>
            <a:r>
              <a:rPr lang="fr-FR" b="1" dirty="0"/>
              <a:t>Architecture </a:t>
            </a:r>
            <a:r>
              <a:rPr lang="fr-FR" b="1" dirty="0" err="1"/>
              <a:t>Overview</a:t>
            </a:r>
            <a:r>
              <a:rPr lang="fr-FR" b="1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600" dirty="0"/>
              <a:t>Input </a:t>
            </a:r>
            <a:r>
              <a:rPr lang="fr-FR" sz="1600" dirty="0" err="1"/>
              <a:t>text</a:t>
            </a:r>
            <a:r>
              <a:rPr lang="fr-FR" sz="1600" dirty="0"/>
              <a:t> </a:t>
            </a:r>
            <a:r>
              <a:rPr lang="fr-FR" sz="1600" dirty="0" err="1"/>
              <a:t>is</a:t>
            </a:r>
            <a:r>
              <a:rPr lang="fr-FR" sz="1600" dirty="0"/>
              <a:t> split </a:t>
            </a:r>
            <a:r>
              <a:rPr lang="fr-FR" sz="1600" dirty="0" err="1"/>
              <a:t>into</a:t>
            </a:r>
            <a:r>
              <a:rPr lang="fr-FR" sz="1600" dirty="0"/>
              <a:t> </a:t>
            </a:r>
            <a:r>
              <a:rPr lang="fr-FR" sz="1600" dirty="0" err="1"/>
              <a:t>tokens</a:t>
            </a:r>
            <a:endParaRPr lang="fr-F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600" dirty="0" err="1"/>
              <a:t>Tokens</a:t>
            </a:r>
            <a:r>
              <a:rPr lang="fr-FR" sz="1600" dirty="0"/>
              <a:t> are </a:t>
            </a:r>
            <a:r>
              <a:rPr lang="fr-FR" sz="1600" dirty="0" err="1"/>
              <a:t>converted</a:t>
            </a:r>
            <a:r>
              <a:rPr lang="fr-FR" sz="1600" dirty="0"/>
              <a:t> </a:t>
            </a:r>
            <a:r>
              <a:rPr lang="fr-FR" sz="1600" dirty="0" err="1"/>
              <a:t>into</a:t>
            </a:r>
            <a:r>
              <a:rPr lang="fr-FR" sz="1600" dirty="0"/>
              <a:t> </a:t>
            </a:r>
            <a:r>
              <a:rPr lang="fr-FR" sz="1600" dirty="0" err="1"/>
              <a:t>embeddings</a:t>
            </a:r>
            <a:r>
              <a:rPr lang="fr-FR" sz="1600" dirty="0"/>
              <a:t>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sz="1200" dirty="0" err="1"/>
              <a:t>Token</a:t>
            </a:r>
            <a:r>
              <a:rPr lang="fr-FR" sz="1200" dirty="0"/>
              <a:t> </a:t>
            </a:r>
            <a:r>
              <a:rPr lang="fr-FR" sz="1200" dirty="0" err="1"/>
              <a:t>embeddings</a:t>
            </a:r>
            <a:endParaRPr lang="fr-FR" sz="12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sz="1200" dirty="0"/>
              <a:t>Position </a:t>
            </a:r>
            <a:r>
              <a:rPr lang="fr-FR" sz="1200" dirty="0" err="1"/>
              <a:t>embeddings</a:t>
            </a:r>
            <a:endParaRPr lang="fr-FR" sz="12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sz="1200" dirty="0"/>
              <a:t>Segment </a:t>
            </a:r>
            <a:r>
              <a:rPr lang="fr-FR" sz="1200" dirty="0" err="1"/>
              <a:t>embeddings</a:t>
            </a:r>
            <a:endParaRPr lang="fr-FR" sz="1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600" dirty="0" err="1"/>
              <a:t>Passed</a:t>
            </a:r>
            <a:r>
              <a:rPr lang="fr-FR" sz="1600" dirty="0"/>
              <a:t> </a:t>
            </a:r>
            <a:r>
              <a:rPr lang="fr-FR" sz="1600" dirty="0" err="1"/>
              <a:t>through</a:t>
            </a:r>
            <a:r>
              <a:rPr lang="fr-FR" sz="1600" dirty="0"/>
              <a:t> multiple Transformer encoder </a:t>
            </a:r>
            <a:r>
              <a:rPr lang="fr-FR" sz="1600" dirty="0" err="1"/>
              <a:t>layers</a:t>
            </a:r>
            <a:endParaRPr lang="fr-FR" sz="1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600" dirty="0"/>
              <a:t>Output: </a:t>
            </a:r>
            <a:r>
              <a:rPr lang="fr-FR" sz="1600" dirty="0" err="1"/>
              <a:t>contextualized</a:t>
            </a:r>
            <a:r>
              <a:rPr lang="fr-FR" sz="1600" dirty="0"/>
              <a:t> </a:t>
            </a:r>
            <a:r>
              <a:rPr lang="fr-FR" sz="1600" dirty="0" err="1"/>
              <a:t>word</a:t>
            </a:r>
            <a:r>
              <a:rPr lang="fr-FR" sz="1600" dirty="0"/>
              <a:t> </a:t>
            </a:r>
            <a:r>
              <a:rPr lang="fr-FR" sz="1600" dirty="0" err="1"/>
              <a:t>representations</a:t>
            </a:r>
            <a:endParaRPr lang="fr-FR" sz="1600" dirty="0"/>
          </a:p>
          <a:p>
            <a:r>
              <a:rPr lang="en-US" sz="1600" b="1" dirty="0"/>
              <a:t>Why Transformers?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/>
              <a:t>Parallel computation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/>
              <a:t>Long-range dependency modeling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dirty="0"/>
              <a:t>Attention mechanism replaces recurrence</a:t>
            </a:r>
          </a:p>
          <a:p>
            <a:pPr>
              <a:buFont typeface="Wingdings" panose="05000000000000000000" pitchFamily="2" charset="2"/>
              <a:buChar char="§"/>
            </a:pPr>
            <a:endParaRPr lang="fr-FR" sz="1800" dirty="0"/>
          </a:p>
          <a:p>
            <a:endParaRPr lang="fr-FR" dirty="0"/>
          </a:p>
        </p:txBody>
      </p:sp>
      <p:pic>
        <p:nvPicPr>
          <p:cNvPr id="9" name="Picture 8" descr="A diagram of a software algorithm&#10;&#10;AI-generated content may be incorrect.">
            <a:extLst>
              <a:ext uri="{FF2B5EF4-FFF2-40B4-BE49-F238E27FC236}">
                <a16:creationId xmlns:a16="http://schemas.microsoft.com/office/drawing/2014/main" id="{45DE9A63-A57A-4F9A-3A5B-164F7D967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501" y="1837738"/>
            <a:ext cx="3152224" cy="444177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4054F9-8D7A-DAED-4F0C-64113C47E21B}"/>
              </a:ext>
            </a:extLst>
          </p:cNvPr>
          <p:cNvCxnSpPr/>
          <p:nvPr/>
        </p:nvCxnSpPr>
        <p:spPr>
          <a:xfrm>
            <a:off x="3406877" y="1957462"/>
            <a:ext cx="0" cy="4163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601C71-E21C-3059-DBD0-3BA9127D936F}"/>
              </a:ext>
            </a:extLst>
          </p:cNvPr>
          <p:cNvCxnSpPr/>
          <p:nvPr/>
        </p:nvCxnSpPr>
        <p:spPr>
          <a:xfrm>
            <a:off x="8318090" y="1846052"/>
            <a:ext cx="0" cy="4422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685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CC989-1CD6-31CE-CD29-01236E233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Pre-training vs Fine-Tuning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3E707-650D-A9DF-81CC-A580B6CC3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51" y="1932819"/>
            <a:ext cx="5956663" cy="4023360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Pre-training (already done by Google):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Masked Language Modeling (MLM)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Next Sentence Prediction (NSP)</a:t>
            </a:r>
          </a:p>
          <a:p>
            <a:r>
              <a:rPr lang="en-US" sz="2400" b="1" dirty="0"/>
              <a:t>Fine-tuning (our project):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Add a classification layer on top of BERT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Train on labeled news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Update all model weights</a:t>
            </a:r>
          </a:p>
          <a:p>
            <a:r>
              <a:rPr lang="en-US" sz="2400" b="1" dirty="0"/>
              <a:t>Why Fine-Tuning?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000" dirty="0"/>
              <a:t>Requires less data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000" dirty="0"/>
              <a:t>Faster convergence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000" dirty="0"/>
              <a:t>High accuracy with minimal task-specific changes</a:t>
            </a:r>
          </a:p>
          <a:p>
            <a:endParaRPr lang="fr-FR" sz="2400" dirty="0"/>
          </a:p>
        </p:txBody>
      </p:sp>
      <p:pic>
        <p:nvPicPr>
          <p:cNvPr id="5" name="Picture 4" descr="A diagram of a training">
            <a:extLst>
              <a:ext uri="{FF2B5EF4-FFF2-40B4-BE49-F238E27FC236}">
                <a16:creationId xmlns:a16="http://schemas.microsoft.com/office/drawing/2014/main" id="{766FE93A-1233-7B1A-D6DD-137F9218B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1932819"/>
            <a:ext cx="5750123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6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C66F-AB07-36D6-FDAD-E89FB7C0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&amp; Training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F0123-D1DD-DBC2-F2E5-5B75A6474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66" y="1924890"/>
            <a:ext cx="5100320" cy="4569581"/>
          </a:xfrm>
        </p:spPr>
        <p:txBody>
          <a:bodyPr>
            <a:normAutofit lnSpcReduction="10000"/>
          </a:bodyPr>
          <a:lstStyle/>
          <a:p>
            <a:r>
              <a:rPr lang="fr-FR" b="1" dirty="0" err="1"/>
              <a:t>Dataset</a:t>
            </a:r>
            <a:r>
              <a:rPr lang="fr-FR" b="1" dirty="0"/>
              <a:t>: AG News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4 </a:t>
            </a:r>
            <a:r>
              <a:rPr lang="fr-FR" dirty="0" err="1"/>
              <a:t>categories</a:t>
            </a:r>
            <a:r>
              <a:rPr lang="fr-FR" dirty="0"/>
              <a:t>:</a:t>
            </a:r>
          </a:p>
          <a:p>
            <a:pPr marL="749808" lvl="1" indent="-457200">
              <a:buFont typeface="+mj-lt"/>
              <a:buAutoNum type="arabicPeriod"/>
            </a:pPr>
            <a:r>
              <a:rPr lang="fr-FR" dirty="0"/>
              <a:t>World</a:t>
            </a:r>
          </a:p>
          <a:p>
            <a:pPr marL="749808" lvl="1" indent="-457200">
              <a:buFont typeface="+mj-lt"/>
              <a:buAutoNum type="arabicPeriod"/>
            </a:pPr>
            <a:r>
              <a:rPr lang="fr-FR" dirty="0"/>
              <a:t>Sports</a:t>
            </a:r>
          </a:p>
          <a:p>
            <a:pPr marL="749808" lvl="1" indent="-457200">
              <a:buFont typeface="+mj-lt"/>
              <a:buAutoNum type="arabicPeriod"/>
            </a:pPr>
            <a:r>
              <a:rPr lang="fr-FR" dirty="0"/>
              <a:t>Business</a:t>
            </a:r>
          </a:p>
          <a:p>
            <a:pPr marL="749808" lvl="1" indent="-457200">
              <a:buFont typeface="+mj-lt"/>
              <a:buAutoNum type="arabicPeriod"/>
            </a:pPr>
            <a:r>
              <a:rPr lang="fr-FR" dirty="0"/>
              <a:t>Science &amp; </a:t>
            </a:r>
            <a:r>
              <a:rPr lang="fr-FR" dirty="0" err="1"/>
              <a:t>Technology</a:t>
            </a: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dirty="0" err="1"/>
              <a:t>Balanced</a:t>
            </a:r>
            <a:r>
              <a:rPr lang="fr-FR" dirty="0"/>
              <a:t> and </a:t>
            </a:r>
            <a:r>
              <a:rPr lang="fr-FR" dirty="0" err="1"/>
              <a:t>widely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benchmark </a:t>
            </a:r>
            <a:r>
              <a:rPr lang="fr-FR" dirty="0" err="1"/>
              <a:t>dataset</a:t>
            </a:r>
            <a:endParaRPr lang="fr-FR" dirty="0"/>
          </a:p>
          <a:p>
            <a:r>
              <a:rPr lang="fr-FR" b="1" dirty="0"/>
              <a:t>Training Pipeline</a:t>
            </a:r>
          </a:p>
          <a:p>
            <a:pPr marL="749808" lvl="1" indent="-457200">
              <a:buFont typeface="+mj-lt"/>
              <a:buAutoNum type="arabicPeriod"/>
            </a:pPr>
            <a:r>
              <a:rPr lang="fr-FR" dirty="0" err="1"/>
              <a:t>Text</a:t>
            </a:r>
            <a:r>
              <a:rPr lang="fr-FR" dirty="0"/>
              <a:t> </a:t>
            </a:r>
            <a:r>
              <a:rPr lang="fr-FR" dirty="0" err="1"/>
              <a:t>cleaning</a:t>
            </a:r>
            <a:endParaRPr lang="fr-FR" dirty="0"/>
          </a:p>
          <a:p>
            <a:pPr marL="749808" lvl="1" indent="-457200">
              <a:buFont typeface="+mj-lt"/>
              <a:buAutoNum type="arabicPeriod"/>
            </a:pPr>
            <a:r>
              <a:rPr lang="fr-FR" dirty="0" err="1"/>
              <a:t>Tokenization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BERT </a:t>
            </a:r>
            <a:r>
              <a:rPr lang="fr-FR" dirty="0" err="1"/>
              <a:t>tokenizer</a:t>
            </a:r>
            <a:endParaRPr lang="fr-FR" dirty="0"/>
          </a:p>
          <a:p>
            <a:pPr marL="749808" lvl="1" indent="-457200">
              <a:buFont typeface="+mj-lt"/>
              <a:buAutoNum type="arabicPeriod"/>
            </a:pPr>
            <a:r>
              <a:rPr lang="fr-FR" dirty="0"/>
              <a:t>Input </a:t>
            </a:r>
            <a:r>
              <a:rPr lang="fr-FR" dirty="0" err="1"/>
              <a:t>formatting</a:t>
            </a:r>
            <a:r>
              <a:rPr lang="fr-FR" dirty="0"/>
              <a:t> (attention </a:t>
            </a:r>
            <a:r>
              <a:rPr lang="fr-FR" dirty="0" err="1"/>
              <a:t>masks</a:t>
            </a:r>
            <a:r>
              <a:rPr lang="fr-FR" dirty="0"/>
              <a:t>, </a:t>
            </a:r>
            <a:r>
              <a:rPr lang="fr-FR" dirty="0" err="1"/>
              <a:t>padding</a:t>
            </a:r>
            <a:r>
              <a:rPr lang="fr-FR" dirty="0"/>
              <a:t>)</a:t>
            </a:r>
          </a:p>
          <a:p>
            <a:pPr marL="749808" lvl="1" indent="-457200">
              <a:buFont typeface="+mj-lt"/>
              <a:buAutoNum type="arabicPeriod"/>
            </a:pPr>
            <a:r>
              <a:rPr lang="fr-FR" dirty="0"/>
              <a:t>Model fine-tuning</a:t>
            </a:r>
          </a:p>
          <a:p>
            <a:pPr marL="749808" lvl="1" indent="-457200">
              <a:buFont typeface="+mj-lt"/>
              <a:buAutoNum type="arabicPeriod"/>
            </a:pPr>
            <a:r>
              <a:rPr lang="fr-FR" dirty="0"/>
              <a:t>Evaluation on validation 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7FD9D-ACF2-0349-0768-60117B1C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900" y="1737360"/>
            <a:ext cx="5633720" cy="459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43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8C86-DB2E-59BE-E9B3-502DD81C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Model Performance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06E5D-E9FF-37B1-5B74-7B9E16DD6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67" y="1824444"/>
            <a:ext cx="3271520" cy="1450757"/>
          </a:xfrm>
        </p:spPr>
        <p:txBody>
          <a:bodyPr>
            <a:normAutofit/>
          </a:bodyPr>
          <a:lstStyle/>
          <a:p>
            <a:r>
              <a:rPr lang="fr-FR" b="1" dirty="0"/>
              <a:t>Evaluation </a:t>
            </a:r>
            <a:r>
              <a:rPr lang="fr-FR" b="1" dirty="0" err="1"/>
              <a:t>Metrics</a:t>
            </a:r>
            <a:endParaRPr lang="fr-FR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/>
              <a:t>Accuracy</a:t>
            </a:r>
            <a:endParaRPr lang="fr-FR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 err="1"/>
              <a:t>Loss</a:t>
            </a:r>
            <a:r>
              <a:rPr lang="fr-FR" dirty="0"/>
              <a:t> (training &amp; validation)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/>
              <a:t>Confusion matrix</a:t>
            </a:r>
          </a:p>
          <a:p>
            <a:endParaRPr lang="fr-FR" dirty="0"/>
          </a:p>
        </p:txBody>
      </p:sp>
      <p:pic>
        <p:nvPicPr>
          <p:cNvPr id="5" name="Picture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138652F9-0EEF-A57D-76A4-F0E3C407D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88" y="3275199"/>
            <a:ext cx="3875312" cy="30473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14B575-8B6A-D5A9-BC25-33E716E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625" y="3582801"/>
            <a:ext cx="5662213" cy="273978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62E143-5CAA-AECB-C373-A4DDE293C169}"/>
              </a:ext>
            </a:extLst>
          </p:cNvPr>
          <p:cNvSpPr txBox="1">
            <a:spLocks/>
          </p:cNvSpPr>
          <p:nvPr/>
        </p:nvSpPr>
        <p:spPr>
          <a:xfrm>
            <a:off x="3167748" y="1824443"/>
            <a:ext cx="4359844" cy="14507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 algn="l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</a:pPr>
            <a:r>
              <a:rPr lang="fr-FR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r-FR" sz="1800" b="1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Results</a:t>
            </a:r>
            <a:endParaRPr lang="fr-FR" dirty="0">
              <a:effectLst/>
            </a:endParaRPr>
          </a:p>
          <a:p>
            <a:pPr marL="486918" indent="-28575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High classification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accuracy</a:t>
            </a:r>
            <a:endParaRPr lang="fr-FR" dirty="0">
              <a:effectLst/>
            </a:endParaRPr>
          </a:p>
          <a:p>
            <a:pPr marL="486918" indent="-28575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Strong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generalization</a:t>
            </a: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across</a:t>
            </a: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categories</a:t>
            </a:r>
            <a:endParaRPr lang="fr-FR" dirty="0">
              <a:effectLst/>
            </a:endParaRPr>
          </a:p>
          <a:p>
            <a:pPr marL="486918" indent="-28575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Minimal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overfitting</a:t>
            </a: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observed</a:t>
            </a:r>
            <a:endParaRPr lang="fr-FR" dirty="0">
              <a:effectLst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A19962-9A32-A8ED-6C1B-5605FB08AF75}"/>
              </a:ext>
            </a:extLst>
          </p:cNvPr>
          <p:cNvSpPr txBox="1">
            <a:spLocks/>
          </p:cNvSpPr>
          <p:nvPr/>
        </p:nvSpPr>
        <p:spPr>
          <a:xfrm>
            <a:off x="7527592" y="1824442"/>
            <a:ext cx="4359844" cy="14507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indent="-91440" algn="l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</a:pPr>
            <a:r>
              <a:rPr lang="fr-FR" sz="1800" b="1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Observations</a:t>
            </a:r>
            <a:endParaRPr lang="fr-FR" sz="1600" dirty="0">
              <a:effectLst/>
            </a:endParaRPr>
          </a:p>
          <a:p>
            <a:pPr marL="486918" indent="-28575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BERT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handles</a:t>
            </a: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ambiguous</a:t>
            </a: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text</a:t>
            </a: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well</a:t>
            </a:r>
            <a:endParaRPr lang="fr-FR" sz="1600" dirty="0">
              <a:effectLst/>
            </a:endParaRPr>
          </a:p>
          <a:p>
            <a:pPr marL="486918" indent="-285750" algn="l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Contextual</a:t>
            </a: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understanding</a:t>
            </a: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improves</a:t>
            </a:r>
            <a:r>
              <a:rPr lang="fr-FR" sz="1800" kern="1200" dirty="0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classification </a:t>
            </a:r>
            <a:r>
              <a:rPr lang="fr-FR" sz="1800" kern="1200" dirty="0" err="1">
                <a:solidFill>
                  <a:srgbClr val="40404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quality</a:t>
            </a:r>
            <a:endParaRPr lang="fr-F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8212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9DAEC-6265-6D91-8B98-5FD7DD8F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368" y="2415903"/>
            <a:ext cx="10113264" cy="2026194"/>
          </a:xfrm>
        </p:spPr>
        <p:txBody>
          <a:bodyPr/>
          <a:lstStyle/>
          <a:p>
            <a:pPr algn="ctr"/>
            <a:r>
              <a:rPr lang="fr-FR" sz="6000" b="1" dirty="0" err="1">
                <a:solidFill>
                  <a:schemeClr val="tx1"/>
                </a:solidFill>
              </a:rPr>
              <a:t>Implementation</a:t>
            </a:r>
            <a:r>
              <a:rPr lang="fr-FR" sz="6000" b="1" dirty="0">
                <a:solidFill>
                  <a:schemeClr val="tx1"/>
                </a:solidFill>
              </a:rPr>
              <a:t>, </a:t>
            </a:r>
            <a:r>
              <a:rPr lang="fr-FR" sz="6000" b="1" dirty="0" err="1">
                <a:solidFill>
                  <a:schemeClr val="tx1"/>
                </a:solidFill>
              </a:rPr>
              <a:t>Deployment</a:t>
            </a:r>
            <a:r>
              <a:rPr lang="fr-FR" sz="6000" b="1" dirty="0">
                <a:solidFill>
                  <a:schemeClr val="tx1"/>
                </a:solidFill>
              </a:rPr>
              <a:t> &amp; </a:t>
            </a:r>
            <a:r>
              <a:rPr lang="fr-FR" sz="6000" b="1" dirty="0" err="1">
                <a:solidFill>
                  <a:schemeClr val="tx1"/>
                </a:solidFill>
              </a:rPr>
              <a:t>Demo</a:t>
            </a:r>
            <a:endParaRPr lang="fr-FR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470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80709-6069-8AB5-78C4-5FEEE0AE2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51911"/>
          </a:xfrm>
        </p:spPr>
        <p:txBody>
          <a:bodyPr/>
          <a:lstStyle/>
          <a:p>
            <a:pPr algn="ctr"/>
            <a:r>
              <a:rPr lang="fr-FR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211F8-47DB-F92D-84A6-158E30CA1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831218"/>
            <a:ext cx="4040777" cy="4316063"/>
          </a:xfrm>
        </p:spPr>
        <p:txBody>
          <a:bodyPr>
            <a:normAutofit/>
          </a:bodyPr>
          <a:lstStyle/>
          <a:p>
            <a:r>
              <a:rPr lang="fr-FR" b="1" dirty="0" err="1"/>
              <a:t>Overall</a:t>
            </a:r>
            <a:r>
              <a:rPr lang="fr-FR" b="1" dirty="0"/>
              <a:t> System Architecture</a:t>
            </a:r>
          </a:p>
          <a:p>
            <a:r>
              <a:rPr lang="fr-FR" dirty="0"/>
              <a:t>Main Components: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/>
              <a:t>Frontend (HTML/CSS)</a:t>
            </a:r>
          </a:p>
          <a:p>
            <a:pPr lvl="1"/>
            <a:r>
              <a:rPr lang="fr-FR" dirty="0"/>
              <a:t>User interface for </a:t>
            </a:r>
            <a:r>
              <a:rPr lang="fr-FR" dirty="0" err="1"/>
              <a:t>text</a:t>
            </a:r>
            <a:r>
              <a:rPr lang="fr-FR" dirty="0"/>
              <a:t> input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/>
              <a:t>Backend (Flask)</a:t>
            </a:r>
          </a:p>
          <a:p>
            <a:pPr lvl="1"/>
            <a:r>
              <a:rPr lang="fr-FR" dirty="0" err="1"/>
              <a:t>Handles</a:t>
            </a:r>
            <a:r>
              <a:rPr lang="fr-FR" dirty="0"/>
              <a:t> </a:t>
            </a:r>
            <a:r>
              <a:rPr lang="fr-FR" dirty="0" err="1"/>
              <a:t>requests</a:t>
            </a:r>
            <a:r>
              <a:rPr lang="fr-FR" dirty="0"/>
              <a:t> and model </a:t>
            </a:r>
            <a:r>
              <a:rPr lang="fr-FR" dirty="0" err="1"/>
              <a:t>inference</a:t>
            </a:r>
            <a:endParaRPr lang="fr-FR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/>
              <a:t>NLP Model (BERT)</a:t>
            </a:r>
          </a:p>
          <a:p>
            <a:pPr lvl="1"/>
            <a:r>
              <a:rPr lang="fr-FR" dirty="0" err="1"/>
              <a:t>Loads</a:t>
            </a:r>
            <a:r>
              <a:rPr lang="fr-FR" dirty="0"/>
              <a:t> fine-</a:t>
            </a:r>
            <a:r>
              <a:rPr lang="fr-FR" dirty="0" err="1"/>
              <a:t>tuned</a:t>
            </a:r>
            <a:r>
              <a:rPr lang="fr-FR" dirty="0"/>
              <a:t> model and </a:t>
            </a:r>
            <a:r>
              <a:rPr lang="fr-FR" dirty="0" err="1"/>
              <a:t>tokenizer</a:t>
            </a:r>
            <a:endParaRPr lang="fr-FR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 err="1"/>
              <a:t>Deployment</a:t>
            </a:r>
            <a:r>
              <a:rPr lang="fr-FR" dirty="0"/>
              <a:t> (Docker + </a:t>
            </a:r>
            <a:r>
              <a:rPr lang="fr-FR" dirty="0" err="1"/>
              <a:t>Gunicorn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Ensures</a:t>
            </a:r>
            <a:r>
              <a:rPr lang="fr-FR" dirty="0"/>
              <a:t> </a:t>
            </a:r>
            <a:r>
              <a:rPr lang="fr-FR" dirty="0" err="1"/>
              <a:t>scalability</a:t>
            </a:r>
            <a:r>
              <a:rPr lang="fr-FR" dirty="0"/>
              <a:t> and </a:t>
            </a:r>
            <a:r>
              <a:rPr lang="fr-FR" dirty="0" err="1"/>
              <a:t>portability</a:t>
            </a:r>
            <a:endParaRPr lang="fr-FR" dirty="0"/>
          </a:p>
          <a:p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064F9A-5BE1-9FD4-A441-192B03F7336A}"/>
              </a:ext>
            </a:extLst>
          </p:cNvPr>
          <p:cNvSpPr txBox="1">
            <a:spLocks/>
          </p:cNvSpPr>
          <p:nvPr/>
        </p:nvSpPr>
        <p:spPr>
          <a:xfrm>
            <a:off x="4238172" y="1831218"/>
            <a:ext cx="3873857" cy="418785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Prediction Flow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User enters text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Flask receives request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Text is tokenized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BERT predicts class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Result is returned to the user</a:t>
            </a:r>
          </a:p>
          <a:p>
            <a:pPr marL="292608" lvl="1" indent="0">
              <a:buNone/>
            </a:pPr>
            <a:endParaRPr lang="en-US" dirty="0"/>
          </a:p>
          <a:p>
            <a:r>
              <a:rPr lang="en-US" b="1" dirty="0"/>
              <a:t>Why This Structure?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Clean separation of concerns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Easy maintenance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Production-ready layout</a:t>
            </a:r>
          </a:p>
          <a:p>
            <a:pPr marL="292608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A7C0C-5519-0CC6-07F0-B5E5C47AB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029" y="1831218"/>
            <a:ext cx="4079972" cy="446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18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47817-92F0-5D3C-7099-36B1CECA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0901"/>
            <a:ext cx="3200400" cy="1145951"/>
          </a:xfrm>
        </p:spPr>
        <p:txBody>
          <a:bodyPr/>
          <a:lstStyle/>
          <a:p>
            <a:r>
              <a:rPr lang="fr-FR" dirty="0"/>
              <a:t>System Diagram &amp; Data 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AB2FF-E46A-C528-BE98-DAE517D3C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592827"/>
            <a:ext cx="3200400" cy="23449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diagram illustrates a complete BERT-based news classification pipeline, from training on the AG News dataset (120K samples, 4 categories) to deployment. The fine-tuned model achieves 87.89% accuracy and is containerized using Docker with a Flask web interface. Users can input news text through their browser and receive real-time predictions with confidence scores for categories: World, Sports, Business, and Sci/Tech.</a:t>
            </a:r>
            <a:endParaRPr lang="fr-FR" dirty="0"/>
          </a:p>
        </p:txBody>
      </p:sp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91475EF0-388D-BEA6-64EF-1E793B137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886" y="0"/>
            <a:ext cx="6160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1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81CF-4ED3-E9F1-F128-636F3B5CB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368" y="2709090"/>
            <a:ext cx="10113264" cy="1126309"/>
          </a:xfrm>
        </p:spPr>
        <p:txBody>
          <a:bodyPr/>
          <a:lstStyle/>
          <a:p>
            <a:pPr algn="ctr"/>
            <a:r>
              <a:rPr lang="fr-FR" sz="6600" dirty="0">
                <a:solidFill>
                  <a:schemeClr val="tx1"/>
                </a:solidFill>
              </a:rPr>
              <a:t>Web Application </a:t>
            </a:r>
            <a:r>
              <a:rPr lang="fr-FR" sz="6600" dirty="0" err="1">
                <a:solidFill>
                  <a:schemeClr val="tx1"/>
                </a:solidFill>
              </a:rPr>
              <a:t>Demo</a:t>
            </a:r>
            <a:endParaRPr lang="fr-FR" sz="6600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DA807-65A1-3B85-256C-8A9C499E8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400" dirty="0"/>
              <a:t>Code + </a:t>
            </a:r>
            <a:r>
              <a:rPr lang="fr-FR" sz="2400" dirty="0" err="1"/>
              <a:t>Demo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48080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D9F9-E0C1-1E9C-F429-66F179E7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F71F-F8FC-BD45-5E76-71B6F4181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9923"/>
          </a:xfrm>
        </p:spPr>
        <p:txBody>
          <a:bodyPr>
            <a:normAutofit/>
          </a:bodyPr>
          <a:lstStyle/>
          <a:p>
            <a:pPr algn="ctr"/>
            <a:r>
              <a:rPr lang="en-US" sz="2200" dirty="0"/>
              <a:t>This project successfully demonstrates how a </a:t>
            </a:r>
            <a:r>
              <a:rPr lang="en-US" sz="2200" b="1" dirty="0"/>
              <a:t>BERT-based NLP model</a:t>
            </a:r>
            <a:r>
              <a:rPr lang="en-US" sz="2200" dirty="0"/>
              <a:t> can be fine-tuned for text classification and deployed as a </a:t>
            </a:r>
            <a:r>
              <a:rPr lang="en-US" sz="2200" b="1" dirty="0"/>
              <a:t>real-time web application</a:t>
            </a:r>
            <a:r>
              <a:rPr lang="en-US" sz="2200" dirty="0"/>
              <a:t>. It combines cutting-edge deep learning techniques with practical software engineering, making it both </a:t>
            </a:r>
            <a:r>
              <a:rPr lang="en-US" sz="2200" b="1" dirty="0"/>
              <a:t>accurate</a:t>
            </a:r>
            <a:r>
              <a:rPr lang="en-US" sz="2200" dirty="0"/>
              <a:t> and </a:t>
            </a:r>
            <a:r>
              <a:rPr lang="en-US" sz="2200" b="1" dirty="0"/>
              <a:t>user-friendly</a:t>
            </a:r>
            <a:r>
              <a:rPr lang="en-US" sz="2200" dirty="0"/>
              <a:t>.</a:t>
            </a:r>
          </a:p>
          <a:p>
            <a:pPr algn="ctr"/>
            <a:endParaRPr lang="en-US" dirty="0"/>
          </a:p>
          <a:p>
            <a:r>
              <a:rPr lang="fr-FR" b="1" dirty="0"/>
              <a:t>Major Contributions</a:t>
            </a:r>
            <a:r>
              <a:rPr lang="fr-FR" dirty="0"/>
              <a:t> 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High-quality text understanding with BERT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Real-time classification through a Flask web app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Scalable and reproducible deployment using Docker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Practical applicability to news categorization, sentiment analysis, and more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19628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3622</TotalTime>
  <Words>675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Retrospect</vt:lpstr>
      <vt:lpstr>Fine-Tuning BERT on the AG News Dataset and Deploying a Real-Time Text Classification System</vt:lpstr>
      <vt:lpstr>Global Plan</vt:lpstr>
      <vt:lpstr>Problem Statement &amp; Motivation</vt:lpstr>
      <vt:lpstr>Project Objectives &amp; Scope</vt:lpstr>
      <vt:lpstr>Model Architecture &amp; Training</vt:lpstr>
      <vt:lpstr>BERT &amp; Architecture</vt:lpstr>
      <vt:lpstr>Pre-training vs Fine-Tuning</vt:lpstr>
      <vt:lpstr>Dataset &amp; Training Pipeline</vt:lpstr>
      <vt:lpstr>Model Performance &amp; Evaluation</vt:lpstr>
      <vt:lpstr>Implementation, Deployment &amp; Demo</vt:lpstr>
      <vt:lpstr>System Architecture</vt:lpstr>
      <vt:lpstr>System Diagram &amp; Data Flow</vt:lpstr>
      <vt:lpstr>Web Application Demo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ATIF YOUNESS</dc:creator>
  <cp:lastModifiedBy>ATIF YOUNESS</cp:lastModifiedBy>
  <cp:revision>27</cp:revision>
  <dcterms:created xsi:type="dcterms:W3CDTF">2025-12-14T09:20:36Z</dcterms:created>
  <dcterms:modified xsi:type="dcterms:W3CDTF">2025-12-24T19:15:28Z</dcterms:modified>
</cp:coreProperties>
</file>